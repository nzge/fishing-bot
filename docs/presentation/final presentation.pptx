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Helvetica Neue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4.xml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0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ad852d9da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ad852d9da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ad852d9da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ad852d9da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ad852d9da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ad852d9da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ad852d9da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ad852d9da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ad852d9da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ad852d9da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ad852d9da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ad852d9da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ad852d9da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ad852d9da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ad852d9da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ad852d9da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ad852d9da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ad852d9da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ad852d9da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ad852d9da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ad852d9da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ad852d9da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ad852d9da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unfortunately we had to default back to our simpler mujoco simulation and hardware control pipeline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given software </a:t>
            </a:r>
            <a:r>
              <a:rPr lang="en-US"/>
              <a:t>development complexities associated with ros2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ad852d9da_0_1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ad852d9da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ad852d9da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ad852d9da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ad852d9da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ad852d9da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ad852d9da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ad852d9da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ad852d9da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ad852d9da_3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ad852d9da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ad852d9da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ad852d9da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ec4a03048_3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ec4a03048_3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ec4a03048_3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ec4a0304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ec4a03048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ec4a03048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ad852d9da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ad852d9da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ad852d9da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ad852d9da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ad852d9da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ad852d9da_0_2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ad852d9da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ad852d9da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ad852d9da_2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ad852d9da_4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ad852d9da_4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ead852d9da_4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ad852d9da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ad852d9da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ad852d9da_0_2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b0438f899_2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b0438f899_2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upon further understanding of the problem, it became clear that this apparently simple problem has incredibly deep and rich control ideas embedded within it</a:t>
            </a:r>
            <a:endParaRPr/>
          </a:p>
        </p:txBody>
      </p:sp>
      <p:sp>
        <p:nvSpPr>
          <p:cNvPr id="360" name="Google Shape;360;g3eb0438f899_2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b0438f899_2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b0438f899_2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one if we consider the planarized case and consider our limited sensing framework, we need to employ sensor fusion techniques to ensure optimal tension estimation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control front, hybrid control may be optimal and </a:t>
            </a:r>
            <a:r>
              <a:rPr lang="en-US"/>
              <a:t>worth</a:t>
            </a:r>
            <a:r>
              <a:rPr lang="en-US"/>
              <a:t> testing to allow admittance in the tension management axis and stiffness in perpendicular axes</a:t>
            </a:r>
            <a:endParaRPr/>
          </a:p>
        </p:txBody>
      </p:sp>
      <p:sp>
        <p:nvSpPr>
          <p:cNvPr id="368" name="Google Shape;368;g3eb0438f899_2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ad852d9da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ad852d9da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crucial facet of the control problem is state switching capability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states are embedded within the fishing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control switching is incredibly control rich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from fish searching to hook 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switching from having fish to losing tension.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ensure stable control behavior within our discrete state switching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funnel synthesis to bound the control behavior</a:t>
            </a:r>
            <a:endParaRPr/>
          </a:p>
        </p:txBody>
      </p:sp>
      <p:sp>
        <p:nvSpPr>
          <p:cNvPr id="376" name="Google Shape;376;g3ead852d9da_0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b8f1f8b10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b8f1f8b10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important facet is state switching capability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from fish searching to hook 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switching from having fish to losing tension.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ensure stable control behavior within our discrete state switching </a:t>
            </a:r>
            <a:endParaRPr/>
          </a:p>
        </p:txBody>
      </p:sp>
      <p:sp>
        <p:nvSpPr>
          <p:cNvPr id="384" name="Google Shape;384;g3eb8f1f8b10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b0438f899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b0438f899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b0438f899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b0438f89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b0438f89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eb0438f899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b8f1f8b10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b8f1f8b10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b8f1f8b10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ad852d9da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ad852d9da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ead852d9da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b0438f89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b0438f89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eb0438f89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ad852d9da_2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ead852d9da_2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ead852d9da_2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er" showMasterSp="0">
  <p:cSld name="Title Open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640080" y="301752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40080" y="182880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640078" y="4480560"/>
            <a:ext cx="1188720" cy="167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2" type="body"/>
          </p:nvPr>
        </p:nvSpPr>
        <p:spPr>
          <a:xfrm>
            <a:off x="640078" y="4663440"/>
            <a:ext cx="1624612" cy="167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3" type="body"/>
          </p:nvPr>
        </p:nvSpPr>
        <p:spPr>
          <a:xfrm>
            <a:off x="640080" y="1645920"/>
            <a:ext cx="3383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/>
          <p:nvPr>
            <p:ph idx="4" type="pic"/>
          </p:nvPr>
        </p:nvSpPr>
        <p:spPr>
          <a:xfrm>
            <a:off x="640079" y="442002"/>
            <a:ext cx="5759450" cy="370101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2"/>
          <p:cNvSpPr txBox="1"/>
          <p:nvPr>
            <p:ph idx="5" type="body"/>
          </p:nvPr>
        </p:nvSpPr>
        <p:spPr>
          <a:xfrm>
            <a:off x="3110248" y="3239110"/>
            <a:ext cx="5867974" cy="3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6" type="body"/>
          </p:nvPr>
        </p:nvSpPr>
        <p:spPr>
          <a:xfrm>
            <a:off x="3509494" y="3642860"/>
            <a:ext cx="5468728" cy="364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7" type="body"/>
          </p:nvPr>
        </p:nvSpPr>
        <p:spPr>
          <a:xfrm>
            <a:off x="3509494" y="4050407"/>
            <a:ext cx="5468728" cy="735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8" type="body"/>
          </p:nvPr>
        </p:nvSpPr>
        <p:spPr>
          <a:xfrm>
            <a:off x="3509494" y="4842153"/>
            <a:ext cx="5468728" cy="228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9" type="body"/>
          </p:nvPr>
        </p:nvSpPr>
        <p:spPr>
          <a:xfrm>
            <a:off x="640080" y="1892807"/>
            <a:ext cx="777240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44">
          <p15:clr>
            <a:srgbClr val="FBAE40"/>
          </p15:clr>
        </p15:guide>
        <p15:guide id="2" orient="horz" pos="276">
          <p15:clr>
            <a:srgbClr val="FBAE40"/>
          </p15:clr>
        </p15:guide>
        <p15:guide id="3" pos="4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640080" y="246888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/>
          </a:p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4297680" y="4754880"/>
            <a:ext cx="2117634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640080" y="246888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 Divider</a:t>
            </a:r>
            <a:endParaRPr/>
          </a:p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640079" y="2651760"/>
            <a:ext cx="7772400" cy="22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b="1" i="0" sz="1600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4297680" y="4754880"/>
            <a:ext cx="2117634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421624" y="4754880"/>
            <a:ext cx="457200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/dark background">
  <p:cSld name="Statement w/dark background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0" type="dt"/>
          </p:nvPr>
        </p:nvSpPr>
        <p:spPr>
          <a:xfrm>
            <a:off x="4297680" y="4754880"/>
            <a:ext cx="2117634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21624" y="4754880"/>
            <a:ext cx="457200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1371600" y="1408176"/>
            <a:ext cx="6400800" cy="1665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indent="-2286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2pPr>
            <a:lvl3pPr indent="-2286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3pPr>
            <a:lvl4pPr indent="-2286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4pPr>
            <a:lvl5pPr indent="-2286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able">
  <p:cSld name="Header w/tab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/>
          <p:nvPr>
            <p:ph idx="2" type="tbl"/>
          </p:nvPr>
        </p:nvSpPr>
        <p:spPr>
          <a:xfrm>
            <a:off x="1097280" y="1463040"/>
            <a:ext cx="6400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7739808" y="1463040"/>
            <a:ext cx="11391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F00FF"/>
              </a:buClr>
              <a:buSzPts val="800"/>
              <a:buNone/>
              <a:defRPr b="0" sz="800">
                <a:solidFill>
                  <a:srgbClr val="FF00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copy">
  <p:cSld name="Header w/cop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idx="1" type="body"/>
          </p:nvPr>
        </p:nvSpPr>
        <p:spPr>
          <a:xfrm>
            <a:off x="1097280" y="1828800"/>
            <a:ext cx="6858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1097280" y="146304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bullets">
  <p:cSld name="Header w/bulle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idx="1" type="body"/>
          </p:nvPr>
        </p:nvSpPr>
        <p:spPr>
          <a:xfrm>
            <a:off x="1097280" y="1828801"/>
            <a:ext cx="6858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1097280" y="146304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9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3" type="body"/>
          </p:nvPr>
        </p:nvSpPr>
        <p:spPr>
          <a:xfrm>
            <a:off x="1097279" y="2560320"/>
            <a:ext cx="68580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3175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columns">
  <p:cSld name="Header w/two 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1097280" y="1828800"/>
            <a:ext cx="33834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097280" y="1463040"/>
            <a:ext cx="338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5029200" y="1828800"/>
            <a:ext cx="33834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5029200" y="1463040"/>
            <a:ext cx="338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Left">
  <p:cSld name="Header w/one image on Lef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4572000" y="1828800"/>
            <a:ext cx="3840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2" type="body"/>
          </p:nvPr>
        </p:nvSpPr>
        <p:spPr>
          <a:xfrm>
            <a:off x="4571999" y="1463040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1"/>
          <p:cNvSpPr/>
          <p:nvPr>
            <p:ph idx="3" type="pic"/>
          </p:nvPr>
        </p:nvSpPr>
        <p:spPr>
          <a:xfrm>
            <a:off x="640080" y="1463040"/>
            <a:ext cx="3931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87" name="Google Shape;87;p11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Right">
  <p:cSld name="Header w/one image on Righ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640080" y="1828800"/>
            <a:ext cx="3840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2" type="body"/>
          </p:nvPr>
        </p:nvSpPr>
        <p:spPr>
          <a:xfrm>
            <a:off x="640080" y="1463040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2"/>
          <p:cNvSpPr/>
          <p:nvPr>
            <p:ph idx="3" type="pic"/>
          </p:nvPr>
        </p:nvSpPr>
        <p:spPr>
          <a:xfrm>
            <a:off x="4480559" y="1463040"/>
            <a:ext cx="3931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4" name="Google Shape;94;p12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images">
  <p:cSld name="Header w/two image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3"/>
          <p:cNvSpPr/>
          <p:nvPr>
            <p:ph idx="2" type="pic"/>
          </p:nvPr>
        </p:nvSpPr>
        <p:spPr>
          <a:xfrm>
            <a:off x="639952" y="1463040"/>
            <a:ext cx="37491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640080" y="3566160"/>
            <a:ext cx="3749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/>
          <p:nvPr>
            <p:ph idx="3" type="pic"/>
          </p:nvPr>
        </p:nvSpPr>
        <p:spPr>
          <a:xfrm>
            <a:off x="4666262" y="1466850"/>
            <a:ext cx="37491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02" name="Google Shape;102;p13"/>
          <p:cNvSpPr txBox="1"/>
          <p:nvPr>
            <p:ph idx="4" type="body"/>
          </p:nvPr>
        </p:nvSpPr>
        <p:spPr>
          <a:xfrm>
            <a:off x="4666390" y="3569970"/>
            <a:ext cx="3749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hree images">
  <p:cSld name="Header w/three image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4"/>
          <p:cNvSpPr/>
          <p:nvPr>
            <p:ph idx="2" type="pic"/>
          </p:nvPr>
        </p:nvSpPr>
        <p:spPr>
          <a:xfrm>
            <a:off x="639952" y="1463040"/>
            <a:ext cx="24690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5943600" y="3566160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/>
          <p:nvPr>
            <p:ph idx="3" type="pic"/>
          </p:nvPr>
        </p:nvSpPr>
        <p:spPr>
          <a:xfrm>
            <a:off x="5943600" y="1463040"/>
            <a:ext cx="24690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09" name="Google Shape;109;p14"/>
          <p:cNvSpPr txBox="1"/>
          <p:nvPr>
            <p:ph idx="4" type="body"/>
          </p:nvPr>
        </p:nvSpPr>
        <p:spPr>
          <a:xfrm>
            <a:off x="3291840" y="3566160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4"/>
          <p:cNvSpPr/>
          <p:nvPr>
            <p:ph idx="5" type="pic"/>
          </p:nvPr>
        </p:nvSpPr>
        <p:spPr>
          <a:xfrm>
            <a:off x="3291776" y="1463040"/>
            <a:ext cx="24690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11" name="Google Shape;111;p14"/>
          <p:cNvSpPr txBox="1"/>
          <p:nvPr>
            <p:ph idx="6" type="body"/>
          </p:nvPr>
        </p:nvSpPr>
        <p:spPr>
          <a:xfrm>
            <a:off x="640080" y="3566158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/wide image">
  <p:cSld name="Header/wide imag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640080" y="393192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5"/>
          <p:cNvSpPr/>
          <p:nvPr>
            <p:ph idx="2" type="pic"/>
          </p:nvPr>
        </p:nvSpPr>
        <p:spPr>
          <a:xfrm>
            <a:off x="640080" y="1463040"/>
            <a:ext cx="7772400" cy="24231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video">
  <p:cSld name="Header w/video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6"/>
          <p:cNvSpPr/>
          <p:nvPr>
            <p:ph idx="2" type="media"/>
          </p:nvPr>
        </p:nvSpPr>
        <p:spPr>
          <a:xfrm>
            <a:off x="1828800" y="1463040"/>
            <a:ext cx="54864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video and copy">
  <p:cSld name="Header w/video and cop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5669280" y="1828799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" type="body"/>
          </p:nvPr>
        </p:nvSpPr>
        <p:spPr>
          <a:xfrm>
            <a:off x="5669280" y="1463040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7"/>
          <p:cNvSpPr/>
          <p:nvPr>
            <p:ph idx="3" type="media"/>
          </p:nvPr>
        </p:nvSpPr>
        <p:spPr>
          <a:xfrm>
            <a:off x="640080" y="1463040"/>
            <a:ext cx="5029200" cy="28347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er" showMasterSp="0">
  <p:cSld name="Title Open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640080" y="3017520"/>
            <a:ext cx="7772400" cy="366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40080" y="1828800"/>
            <a:ext cx="7772400" cy="366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640078" y="4480560"/>
            <a:ext cx="1188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2" type="body"/>
          </p:nvPr>
        </p:nvSpPr>
        <p:spPr>
          <a:xfrm>
            <a:off x="640078" y="4663440"/>
            <a:ext cx="16245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3" type="body"/>
          </p:nvPr>
        </p:nvSpPr>
        <p:spPr>
          <a:xfrm>
            <a:off x="640080" y="1645920"/>
            <a:ext cx="3383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9"/>
          <p:cNvSpPr/>
          <p:nvPr>
            <p:ph idx="4" type="pic"/>
          </p:nvPr>
        </p:nvSpPr>
        <p:spPr>
          <a:xfrm>
            <a:off x="640079" y="442002"/>
            <a:ext cx="5759400" cy="3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9"/>
          <p:cNvSpPr txBox="1"/>
          <p:nvPr>
            <p:ph idx="5" type="body"/>
          </p:nvPr>
        </p:nvSpPr>
        <p:spPr>
          <a:xfrm>
            <a:off x="3110248" y="3239110"/>
            <a:ext cx="58680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6" type="body"/>
          </p:nvPr>
        </p:nvSpPr>
        <p:spPr>
          <a:xfrm>
            <a:off x="3509494" y="3642860"/>
            <a:ext cx="5468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7" type="body"/>
          </p:nvPr>
        </p:nvSpPr>
        <p:spPr>
          <a:xfrm>
            <a:off x="3509494" y="4050407"/>
            <a:ext cx="54687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8" type="body"/>
          </p:nvPr>
        </p:nvSpPr>
        <p:spPr>
          <a:xfrm>
            <a:off x="3509494" y="4842153"/>
            <a:ext cx="5468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  <a:defRPr sz="1000">
                <a:solidFill>
                  <a:srgbClr val="FFFF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9" type="body"/>
          </p:nvPr>
        </p:nvSpPr>
        <p:spPr>
          <a:xfrm>
            <a:off x="640080" y="1892807"/>
            <a:ext cx="77724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44">
          <p15:clr>
            <a:srgbClr val="FBAE40"/>
          </p15:clr>
        </p15:guide>
        <p15:guide id="2" orient="horz" pos="276">
          <p15:clr>
            <a:srgbClr val="FBAE40"/>
          </p15:clr>
        </p15:guide>
        <p15:guide id="3" pos="40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/>
          </a:p>
        </p:txBody>
      </p:sp>
      <p:sp>
        <p:nvSpPr>
          <p:cNvPr id="154" name="Google Shape;154;p20"/>
          <p:cNvSpPr txBox="1"/>
          <p:nvPr>
            <p:ph idx="10" type="dt"/>
          </p:nvPr>
        </p:nvSpPr>
        <p:spPr>
          <a:xfrm>
            <a:off x="4297680" y="4754880"/>
            <a:ext cx="2117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640080" y="1874520"/>
            <a:ext cx="777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640079" y="2651760"/>
            <a:ext cx="77724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b="1" i="0" sz="1600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10" type="dt"/>
          </p:nvPr>
        </p:nvSpPr>
        <p:spPr>
          <a:xfrm>
            <a:off x="4297680" y="4754880"/>
            <a:ext cx="2117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/dark background">
  <p:cSld name="Statement w/dark background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10" type="dt"/>
          </p:nvPr>
        </p:nvSpPr>
        <p:spPr>
          <a:xfrm>
            <a:off x="4297680" y="4754880"/>
            <a:ext cx="2117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1371600" y="1408176"/>
            <a:ext cx="64008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indent="-2286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2pPr>
            <a:lvl3pPr indent="-2286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3pPr>
            <a:lvl4pPr indent="-2286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4pPr>
            <a:lvl5pPr indent="-2286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578B"/>
            </a:gs>
            <a:gs pos="100000">
              <a:srgbClr val="2774AE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365760" y="4764024"/>
            <a:ext cx="3566160" cy="369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 Title (edit in Slide Master)</a:t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6581307" y="207926"/>
            <a:ext cx="2295993" cy="132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50" lIns="91425" spcFirstLastPara="1" rIns="0" wrap="square" tIns="4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Name (edit in Slide Master)</a:t>
            </a:r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" y="175759"/>
            <a:ext cx="423229" cy="1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420100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297680" y="47548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640080" y="1874520"/>
            <a:ext cx="7780020" cy="5577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640080" y="2651760"/>
            <a:ext cx="7772400" cy="126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640080" y="1103074"/>
            <a:ext cx="7772400" cy="366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640079" y="640080"/>
            <a:ext cx="7772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>
            <a:gsLst>
              <a:gs pos="0">
                <a:srgbClr val="00578B"/>
              </a:gs>
              <a:gs pos="100000">
                <a:srgbClr val="2774AE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6583680" y="210312"/>
            <a:ext cx="22950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" lIns="91425" spcFirstLastPara="1" rIns="0" wrap="square" tIns="4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Mechanical &amp; Aerospace Eng C263C</a:t>
            </a:r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" y="175759"/>
            <a:ext cx="423229" cy="1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365760" y="4762024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Helvetica Neue"/>
              <a:buNone/>
            </a:pPr>
            <a:r>
              <a:rPr lang="en-US" sz="8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GoFish: Tension Regulation Fishing Robot</a:t>
            </a:r>
            <a:endParaRPr/>
          </a:p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1097280" y="1463040"/>
            <a:ext cx="7315200" cy="11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578B"/>
            </a:gs>
            <a:gs pos="100000">
              <a:srgbClr val="2774AE"/>
            </a:gs>
          </a:gsLst>
          <a:lin ang="0" scaled="0"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365760" y="4764024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 Title (edit in Slide Master)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6581307" y="207926"/>
            <a:ext cx="22959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" lIns="91425" spcFirstLastPara="1" rIns="0" wrap="square" tIns="4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Name (edit in Slide Master)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" y="175759"/>
            <a:ext cx="423229" cy="1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420100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10" type="dt"/>
          </p:nvPr>
        </p:nvSpPr>
        <p:spPr>
          <a:xfrm>
            <a:off x="4297680" y="47548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640080" y="1874520"/>
            <a:ext cx="7779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640080" y="2651760"/>
            <a:ext cx="77724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ezrer--6YiFw7FclqiPEvdUMyHWFbu7p/view" TargetMode="External"/><Relationship Id="rId4" Type="http://schemas.openxmlformats.org/officeDocument/2006/relationships/image" Target="../media/image15.jpg"/><Relationship Id="rId5" Type="http://schemas.openxmlformats.org/officeDocument/2006/relationships/hyperlink" Target="http://drive.google.com/file/d/1l7wWxSE50hmYx_H-hitoB4I2TenwB7NM/view" TargetMode="External"/><Relationship Id="rId6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jMNJF3tJmj3yEhy4pjF9QKQiW9NE2Map/view" TargetMode="External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researchgate.net/publication/344142164_Haptic_Display_Using_Fishing_Ro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640078" y="4480560"/>
            <a:ext cx="1188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TEAM 17</a:t>
            </a:r>
            <a:endParaRPr/>
          </a:p>
        </p:txBody>
      </p:sp>
      <p:sp>
        <p:nvSpPr>
          <p:cNvPr id="171" name="Google Shape;171;p23"/>
          <p:cNvSpPr txBox="1"/>
          <p:nvPr>
            <p:ph idx="2" type="body"/>
          </p:nvPr>
        </p:nvSpPr>
        <p:spPr>
          <a:xfrm>
            <a:off x="669738" y="4646750"/>
            <a:ext cx="4047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Nathan Ge, Chaoyi Hu, Julie Nguyen,  Xiang Zhou</a:t>
            </a:r>
            <a:endParaRPr/>
          </a:p>
        </p:txBody>
      </p:sp>
      <p:sp>
        <p:nvSpPr>
          <p:cNvPr id="172" name="Google Shape;172;p23"/>
          <p:cNvSpPr txBox="1"/>
          <p:nvPr>
            <p:ph idx="3" type="body"/>
          </p:nvPr>
        </p:nvSpPr>
        <p:spPr>
          <a:xfrm>
            <a:off x="640080" y="1645920"/>
            <a:ext cx="3383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>
            <p:ph idx="5" type="body"/>
          </p:nvPr>
        </p:nvSpPr>
        <p:spPr>
          <a:xfrm>
            <a:off x="3110248" y="3239110"/>
            <a:ext cx="58680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>
            <p:ph idx="6" type="body"/>
          </p:nvPr>
        </p:nvSpPr>
        <p:spPr>
          <a:xfrm>
            <a:off x="3509494" y="3642860"/>
            <a:ext cx="5468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p23"/>
          <p:cNvSpPr txBox="1"/>
          <p:nvPr>
            <p:ph idx="7" type="body"/>
          </p:nvPr>
        </p:nvSpPr>
        <p:spPr>
          <a:xfrm>
            <a:off x="4023350" y="4050400"/>
            <a:ext cx="4954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>
            <p:ph idx="8" type="body"/>
          </p:nvPr>
        </p:nvSpPr>
        <p:spPr>
          <a:xfrm>
            <a:off x="3509494" y="4281103"/>
            <a:ext cx="546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 txBox="1"/>
          <p:nvPr>
            <p:ph idx="9" type="body"/>
          </p:nvPr>
        </p:nvSpPr>
        <p:spPr>
          <a:xfrm>
            <a:off x="640080" y="1892807"/>
            <a:ext cx="7772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/>
              <a:t>GoFish!: A Tension Regulation Fishing Robot</a:t>
            </a:r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697700"/>
            <a:ext cx="4091976" cy="7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640075" y="1754425"/>
            <a:ext cx="7715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Overview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5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Overview &amp; Motivation </a:t>
            </a:r>
            <a:endParaRPr/>
          </a:p>
        </p:txBody>
      </p:sp>
      <p:sp>
        <p:nvSpPr>
          <p:cNvPr id="194" name="Google Shape;194;p25"/>
          <p:cNvSpPr/>
          <p:nvPr>
            <p:ph idx="10" type="dt"/>
          </p:nvPr>
        </p:nvSpPr>
        <p:spPr>
          <a:xfrm>
            <a:off x="4297680" y="4754880"/>
            <a:ext cx="20574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640075" y="1303525"/>
            <a:ext cx="7772400" cy="3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Project Goal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Develop a 1-DOF rigid robotic fishing rod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Simulate fish-fighting interaction under controlled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Develop a control paradigm to r</a:t>
            </a:r>
            <a:r>
              <a:rPr lang="en-US"/>
              <a:t>egulate fishing-line tension near a 3.5 N target with a ±0.1 N deadband.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Motivation / Literature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Prior fishing haptic devices show that force feedback improves realism in fishing simulation.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Fishing-rod haptic displays have also been studied for presenting force sensation through a rod-and-line structure.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Applications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Fishing training simulator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Entertainment / interactive game controller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Robotics force-feedback education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System Concept</a:t>
            </a:r>
            <a:endParaRPr b="1"/>
          </a:p>
          <a:p>
            <a:pPr indent="0" lvl="0" marL="4572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825" y="4160025"/>
            <a:ext cx="1689295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640075" y="1754425"/>
            <a:ext cx="7715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Hardware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7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Test </a:t>
            </a:r>
            <a:endParaRPr/>
          </a:p>
        </p:txBody>
      </p:sp>
      <p:sp>
        <p:nvSpPr>
          <p:cNvPr id="212" name="Google Shape;212;p27"/>
          <p:cNvSpPr/>
          <p:nvPr>
            <p:ph idx="10" type="dt"/>
          </p:nvPr>
        </p:nvSpPr>
        <p:spPr>
          <a:xfrm>
            <a:off x="4297680" y="4754880"/>
            <a:ext cx="20574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7" title="d30416e740840b74ebc323f386f85884.jpg"/>
          <p:cNvPicPr preferRelativeResize="0"/>
          <p:nvPr/>
        </p:nvPicPr>
        <p:blipFill rotWithShape="1">
          <a:blip r:embed="rId3">
            <a:alphaModFix/>
          </a:blip>
          <a:srcRect b="11342" l="21408" r="5700" t="5137"/>
          <a:stretch/>
        </p:blipFill>
        <p:spPr>
          <a:xfrm>
            <a:off x="640075" y="1255575"/>
            <a:ext cx="4213001" cy="327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 title="image.png"/>
          <p:cNvPicPr preferRelativeResize="0"/>
          <p:nvPr/>
        </p:nvPicPr>
        <p:blipFill rotWithShape="1">
          <a:blip r:embed="rId4">
            <a:alphaModFix/>
          </a:blip>
          <a:srcRect b="0" l="0" r="0" t="11426"/>
          <a:stretch/>
        </p:blipFill>
        <p:spPr>
          <a:xfrm>
            <a:off x="5005475" y="1255576"/>
            <a:ext cx="3407001" cy="153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5475" y="2792275"/>
            <a:ext cx="3407001" cy="17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/>
          <p:nvPr/>
        </p:nvSpPr>
        <p:spPr>
          <a:xfrm>
            <a:off x="7696075" y="1255575"/>
            <a:ext cx="71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1DOF</a:t>
            </a:r>
            <a:endParaRPr b="1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7696075" y="2792275"/>
            <a:ext cx="71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DOF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28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Wiring Diagram</a:t>
            </a:r>
            <a:endParaRPr/>
          </a:p>
        </p:txBody>
      </p:sp>
      <p:pic>
        <p:nvPicPr>
          <p:cNvPr id="225" name="Google Shape;225;p28" title="fishing-bot_b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800" y="1340600"/>
            <a:ext cx="4218400" cy="32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640075" y="1754425"/>
            <a:ext cx="7715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Software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30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Simulation (mujoco)</a:t>
            </a:r>
            <a:endParaRPr/>
          </a:p>
        </p:txBody>
      </p:sp>
      <p:pic>
        <p:nvPicPr>
          <p:cNvPr descr="A diagram of a mechanical device&#10;&#10;AI-generated content may be incorrect." id="241" name="Google Shape;241;p30"/>
          <p:cNvPicPr preferRelativeResize="0"/>
          <p:nvPr/>
        </p:nvPicPr>
        <p:blipFill rotWithShape="1">
          <a:blip r:embed="rId3">
            <a:alphaModFix/>
          </a:blip>
          <a:srcRect b="0" l="31171" r="17008" t="0"/>
          <a:stretch/>
        </p:blipFill>
        <p:spPr>
          <a:xfrm>
            <a:off x="1376300" y="1390600"/>
            <a:ext cx="2921376" cy="28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 program&#10;&#10;AI-generated content may be incorrect." id="242" name="Google Shape;24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7100" y="2965676"/>
            <a:ext cx="2714374" cy="155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43" name="Google Shape;24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7100" y="1262850"/>
            <a:ext cx="2714374" cy="16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/>
          <p:nvPr/>
        </p:nvSpPr>
        <p:spPr>
          <a:xfrm>
            <a:off x="4511725" y="2799575"/>
            <a:ext cx="550800" cy="30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31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Codebase (true implementation)</a:t>
            </a:r>
            <a:endParaRPr/>
          </a:p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1097280" y="1828801"/>
            <a:ext cx="6858000" cy="22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Building out the ROS2 codebase such that the control logic interacts seamlessly with Mujoco simulation and hardware control​</a:t>
            </a:r>
            <a:endParaRPr/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i="1" lang="en-US"/>
              <a:t>Bringup</a:t>
            </a:r>
            <a:r>
              <a:rPr lang="en-US"/>
              <a:t>: launch configuration. Can launch simulation or hardware control based on preference​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/>
              <a:t>Description</a:t>
            </a:r>
            <a:r>
              <a:rPr lang="en-US"/>
              <a:t>: mesh and model descriptors​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/>
              <a:t>Control</a:t>
            </a:r>
            <a:r>
              <a:rPr lang="en-US"/>
              <a:t>: tension control package​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/>
              <a:t>Planning</a:t>
            </a:r>
            <a:r>
              <a:rPr lang="en-US"/>
              <a:t>: will likely be used to control randomness of 'fish' behavior. Can be thought of as a fish agent (our disturbance)​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/>
              <a:t>Sensors</a:t>
            </a:r>
            <a:r>
              <a:rPr lang="en-US"/>
              <a:t>: sensor readings and publishing​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/>
              <a:t>Interfaces</a:t>
            </a:r>
            <a:r>
              <a:rPr lang="en-US"/>
              <a:t>: develop protocol for inter-node communication​</a:t>
            </a:r>
            <a:endParaRPr/>
          </a:p>
        </p:txBody>
      </p:sp>
      <p:sp>
        <p:nvSpPr>
          <p:cNvPr id="253" name="Google Shape;253;p31"/>
          <p:cNvSpPr txBox="1"/>
          <p:nvPr>
            <p:ph idx="2" type="body"/>
          </p:nvPr>
        </p:nvSpPr>
        <p:spPr>
          <a:xfrm>
            <a:off x="1097280" y="1463040"/>
            <a:ext cx="6858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ROS2 - software architecture modularity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640075" y="1754425"/>
            <a:ext cx="7715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Controller &amp; Simulation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33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Controller Diagram (Admittance Control)</a:t>
            </a:r>
            <a:endParaRPr/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125" y="1475550"/>
            <a:ext cx="7269746" cy="233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/>
        </p:nvSpPr>
        <p:spPr>
          <a:xfrm>
            <a:off x="1731900" y="4101525"/>
            <a:ext cx="5680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1"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θ¨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​+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1"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θ˙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​+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1"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​(θ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​−θ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​) = −J(θ) 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1"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f​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(f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​−f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34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Admittance Controller Results</a:t>
            </a:r>
            <a:endParaRPr/>
          </a:p>
        </p:txBody>
      </p:sp>
      <p:pic>
        <p:nvPicPr>
          <p:cNvPr id="278" name="Google Shape;278;p34"/>
          <p:cNvPicPr preferRelativeResize="0"/>
          <p:nvPr/>
        </p:nvPicPr>
        <p:blipFill rotWithShape="1">
          <a:blip r:embed="rId3">
            <a:alphaModFix/>
          </a:blip>
          <a:srcRect b="40561" l="0" r="0" t="0"/>
          <a:stretch/>
        </p:blipFill>
        <p:spPr>
          <a:xfrm>
            <a:off x="194850" y="1287725"/>
            <a:ext cx="4076850" cy="30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/>
          <p:cNvPicPr preferRelativeResize="0"/>
          <p:nvPr/>
        </p:nvPicPr>
        <p:blipFill rotWithShape="1">
          <a:blip r:embed="rId3">
            <a:alphaModFix/>
          </a:blip>
          <a:srcRect b="0" l="0" r="0" t="58856"/>
          <a:stretch/>
        </p:blipFill>
        <p:spPr>
          <a:xfrm>
            <a:off x="4477650" y="1758263"/>
            <a:ext cx="4076850" cy="2116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5"/>
          <p:cNvSpPr txBox="1"/>
          <p:nvPr>
            <p:ph type="title"/>
          </p:nvPr>
        </p:nvSpPr>
        <p:spPr>
          <a:xfrm>
            <a:off x="640079" y="640080"/>
            <a:ext cx="7772400" cy="3462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Controller Diagram </a:t>
            </a:r>
            <a:r>
              <a:rPr lang="en-US" sz="2500"/>
              <a:t>(Proportional Force Control)</a:t>
            </a:r>
            <a:endParaRPr sz="2500"/>
          </a:p>
        </p:txBody>
      </p:sp>
      <p:pic>
        <p:nvPicPr>
          <p:cNvPr id="287" name="Google Shape;2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650" y="1497850"/>
            <a:ext cx="8514701" cy="26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1731900" y="4101525"/>
            <a:ext cx="5680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1"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f, low/high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(f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​−f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​)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θ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neutral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θ</a:t>
            </a:r>
            <a:r>
              <a:rPr baseline="-25000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cmd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6"/>
          <p:cNvSpPr txBox="1"/>
          <p:nvPr>
            <p:ph type="title"/>
          </p:nvPr>
        </p:nvSpPr>
        <p:spPr>
          <a:xfrm>
            <a:off x="152402" y="648725"/>
            <a:ext cx="39267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Admittance Controller</a:t>
            </a:r>
            <a:endParaRPr/>
          </a:p>
        </p:txBody>
      </p:sp>
      <p:pic>
        <p:nvPicPr>
          <p:cNvPr id="296" name="Google Shape;296;p36" title="admittancecontro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93784"/>
            <a:ext cx="4414400" cy="33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6" title="forcecontrol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7200" y="1093784"/>
            <a:ext cx="4414399" cy="331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6"/>
          <p:cNvSpPr txBox="1"/>
          <p:nvPr>
            <p:ph type="title"/>
          </p:nvPr>
        </p:nvSpPr>
        <p:spPr>
          <a:xfrm>
            <a:off x="4577202" y="648725"/>
            <a:ext cx="39267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Force Controller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7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Controller Comparison</a:t>
            </a: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700" y="1552150"/>
            <a:ext cx="3885564" cy="292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7"/>
          <p:cNvPicPr preferRelativeResize="0"/>
          <p:nvPr/>
        </p:nvPicPr>
        <p:blipFill rotWithShape="1">
          <a:blip r:embed="rId4">
            <a:alphaModFix/>
          </a:blip>
          <a:srcRect b="60580" l="0" r="0" t="0"/>
          <a:stretch/>
        </p:blipFill>
        <p:spPr>
          <a:xfrm>
            <a:off x="340375" y="1552150"/>
            <a:ext cx="3799974" cy="1889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7"/>
          <p:cNvPicPr preferRelativeResize="0"/>
          <p:nvPr/>
        </p:nvPicPr>
        <p:blipFill rotWithShape="1">
          <a:blip r:embed="rId4">
            <a:alphaModFix/>
          </a:blip>
          <a:srcRect b="0" l="0" r="0" t="78412"/>
          <a:stretch/>
        </p:blipFill>
        <p:spPr>
          <a:xfrm>
            <a:off x="340375" y="3442008"/>
            <a:ext cx="3799974" cy="103501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/>
          <p:nvPr>
            <p:ph idx="2" type="body"/>
          </p:nvPr>
        </p:nvSpPr>
        <p:spPr>
          <a:xfrm>
            <a:off x="508329" y="1274000"/>
            <a:ext cx="2010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Admittance Control</a:t>
            </a:r>
            <a:endParaRPr/>
          </a:p>
        </p:txBody>
      </p:sp>
      <p:sp>
        <p:nvSpPr>
          <p:cNvPr id="310" name="Google Shape;310;p37"/>
          <p:cNvSpPr txBox="1"/>
          <p:nvPr>
            <p:ph idx="2" type="body"/>
          </p:nvPr>
        </p:nvSpPr>
        <p:spPr>
          <a:xfrm>
            <a:off x="4547699" y="1274000"/>
            <a:ext cx="2718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Proportional Force Control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8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8"/>
          <p:cNvSpPr txBox="1"/>
          <p:nvPr/>
        </p:nvSpPr>
        <p:spPr>
          <a:xfrm>
            <a:off x="640075" y="1754425"/>
            <a:ext cx="7715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39"/>
          <p:cNvSpPr/>
          <p:nvPr>
            <p:ph idx="10" type="dt"/>
          </p:nvPr>
        </p:nvSpPr>
        <p:spPr>
          <a:xfrm>
            <a:off x="4297680" y="4754880"/>
            <a:ext cx="20574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 txBox="1"/>
          <p:nvPr/>
        </p:nvSpPr>
        <p:spPr>
          <a:xfrm>
            <a:off x="5343000" y="2251900"/>
            <a:ext cx="2886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</a:rPr>
              <a:t>Manual pulling creates line-tension changes, and the rod responds through the Dynamixel motor.</a:t>
            </a:r>
            <a:endParaRPr>
              <a:solidFill>
                <a:srgbClr val="58595B"/>
              </a:solidFill>
            </a:endParaRPr>
          </a:p>
        </p:txBody>
      </p:sp>
      <p:pic>
        <p:nvPicPr>
          <p:cNvPr id="327" name="Google Shape;327;p39" title="project_demo_108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050" y="1261900"/>
            <a:ext cx="4462825" cy="3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40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Controller Response </a:t>
            </a:r>
            <a:endParaRPr/>
          </a:p>
        </p:txBody>
      </p:sp>
      <p:pic>
        <p:nvPicPr>
          <p:cNvPr id="335" name="Google Shape;335;p40" title="Controller Region During Dynamic Regu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466175"/>
            <a:ext cx="3970576" cy="156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0" title="Control Effort During Dyynamic Regu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0650" y="2362676"/>
            <a:ext cx="3369368" cy="16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0"/>
          <p:cNvSpPr txBox="1"/>
          <p:nvPr/>
        </p:nvSpPr>
        <p:spPr>
          <a:xfrm>
            <a:off x="640075" y="1318675"/>
            <a:ext cx="7781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condition: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Rapid manual pulls were applied to create sudden line-tension changes.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result: 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controller switched between release and pull-back actions, and the PWM command changed accordingly. 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41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Post-Transient Regulation Accuracy</a:t>
            </a:r>
            <a:endParaRPr/>
          </a:p>
        </p:txBody>
      </p:sp>
      <p:pic>
        <p:nvPicPr>
          <p:cNvPr id="345" name="Google Shape;345;p41" title="Tension Regulation Err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673622"/>
            <a:ext cx="3982000" cy="197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1" title="Rod Joint Angle During Tension Regu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75" y="2673622"/>
            <a:ext cx="3981998" cy="197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1"/>
          <p:cNvSpPr txBox="1"/>
          <p:nvPr/>
        </p:nvSpPr>
        <p:spPr>
          <a:xfrm>
            <a:off x="6735925" y="1239138"/>
            <a:ext cx="1685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8595B"/>
                </a:solidFill>
              </a:rPr>
              <a:t>Target tension: 3.5 N</a:t>
            </a:r>
            <a:endParaRPr sz="1100">
              <a:solidFill>
                <a:srgbClr val="5859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8595B"/>
                </a:solidFill>
              </a:rPr>
              <a:t>Final 5 s window:</a:t>
            </a:r>
            <a:endParaRPr sz="1100">
              <a:solidFill>
                <a:srgbClr val="5859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8595B"/>
                </a:solidFill>
              </a:rPr>
              <a:t>Mean tension: 3.52 N</a:t>
            </a:r>
            <a:endParaRPr sz="1100">
              <a:solidFill>
                <a:srgbClr val="5859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8595B"/>
                </a:solidFill>
              </a:rPr>
              <a:t>MAE: 0.025 N  (0.72%)</a:t>
            </a:r>
            <a:endParaRPr sz="1100">
              <a:solidFill>
                <a:srgbClr val="5859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8595B"/>
                </a:solidFill>
              </a:rPr>
              <a:t>RMSE: 0.036 N (1.03%)</a:t>
            </a:r>
            <a:endParaRPr sz="1100">
              <a:solidFill>
                <a:srgbClr val="58595B"/>
              </a:solidFill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640075" y="1174550"/>
            <a:ext cx="6096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condition:</a:t>
            </a:r>
            <a:endParaRPr b="1"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 manual pull followed by steady holding to evaluate whether the controller can return the tension near the 3.5 N target. 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Takeaway:</a:t>
            </a:r>
            <a:endParaRPr b="1"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the initial engagement and correction phase, the controller reduced the tension error and maintained the measured tension close to the target 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2"/>
          <p:cNvSpPr txBox="1"/>
          <p:nvPr>
            <p:ph idx="12" type="sldNum"/>
          </p:nvPr>
        </p:nvSpPr>
        <p:spPr>
          <a:xfrm>
            <a:off x="8421624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42"/>
          <p:cNvSpPr txBox="1"/>
          <p:nvPr/>
        </p:nvSpPr>
        <p:spPr>
          <a:xfrm>
            <a:off x="640075" y="1754425"/>
            <a:ext cx="7715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Developments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43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3"/>
          <p:cNvSpPr txBox="1"/>
          <p:nvPr/>
        </p:nvSpPr>
        <p:spPr>
          <a:xfrm>
            <a:off x="2358450" y="2131350"/>
            <a:ext cx="44271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truth, the fishing problem is extremely control rich in my opinion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will try to convey this nuance 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idx="1" type="body"/>
          </p:nvPr>
        </p:nvSpPr>
        <p:spPr>
          <a:xfrm>
            <a:off x="640075" y="1261500"/>
            <a:ext cx="7772400" cy="3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2D Tension control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Planarized fish movement adds sensing complexity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Our load sensor is 1D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instead of direct linear force/tension estimation relation, need to be aware of tension vector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use load sensor info and kinematic state (encoders) -&gt; </a:t>
            </a:r>
            <a:r>
              <a:rPr b="1" lang="en-US" sz="1300"/>
              <a:t>kinematic variation</a:t>
            </a:r>
            <a:endParaRPr b="1" sz="1300"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OR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(use joint torque/position and load cell) -&gt; sensor fusion,</a:t>
            </a:r>
            <a:r>
              <a:rPr b="1" lang="en-US" sz="1300"/>
              <a:t> extended kalman filter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complicates control problem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nonlinear coupling dynamics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orthogonal subspaces (hybrid control)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Hybrid control?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Force Control (Admittance) along the axis of the fishing line to maintain perfect tension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Rigid Position Control in the perpendicular axes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Motivation: stiffness to reorient rod optimally, while allowing compliance on the force adaptive pulling axis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	</a:t>
            </a:r>
            <a:endParaRPr sz="1300"/>
          </a:p>
        </p:txBody>
      </p:sp>
      <p:sp>
        <p:nvSpPr>
          <p:cNvPr id="371" name="Google Shape;371;p44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44"/>
          <p:cNvSpPr txBox="1"/>
          <p:nvPr>
            <p:ph type="title"/>
          </p:nvPr>
        </p:nvSpPr>
        <p:spPr>
          <a:xfrm>
            <a:off x="640075" y="640077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Algorithmic extensions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/>
          <p:nvPr>
            <p:ph idx="1" type="body"/>
          </p:nvPr>
        </p:nvSpPr>
        <p:spPr>
          <a:xfrm>
            <a:off x="640075" y="1342275"/>
            <a:ext cx="8238900" cy="3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</a:rPr>
              <a:t>More robust state switching capability </a:t>
            </a:r>
            <a:endParaRPr b="1" sz="1300">
              <a:solidFill>
                <a:srgbClr val="5859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Current </a:t>
            </a:r>
            <a:r>
              <a:rPr lang="en-US" sz="1300">
                <a:solidFill>
                  <a:srgbClr val="58595B"/>
                </a:solidFill>
              </a:rPr>
              <a:t>Finite State machine uses force thresholding, which </a:t>
            </a:r>
            <a:r>
              <a:rPr lang="en-US" sz="1300"/>
              <a:t>is very “chattery”</a:t>
            </a:r>
            <a:endParaRPr sz="1300">
              <a:solidFill>
                <a:srgbClr val="5859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Solutions/Considerations: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Hysteresis (anisotropic force thresholds for entering and exiting a state) &amp; Debouncing (time based thresholding/conditioning) to limit false/rapid triggering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Bumpless transfer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smoothing filters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transition states?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300"/>
              <a:buChar char="-"/>
            </a:pPr>
            <a:r>
              <a:rPr lang="en-US" sz="1300">
                <a:solidFill>
                  <a:srgbClr val="58595B"/>
                </a:solidFill>
              </a:rPr>
              <a:t>Tension break detection (rate of force change) and </a:t>
            </a:r>
            <a:r>
              <a:rPr b="1" lang="en-US" sz="1300">
                <a:solidFill>
                  <a:srgbClr val="58595B"/>
                </a:solidFill>
              </a:rPr>
              <a:t>funnel synthesis </a:t>
            </a:r>
            <a:r>
              <a:rPr b="1" lang="en-US" sz="1300"/>
              <a:t>(bound tracking error) </a:t>
            </a:r>
            <a:endParaRPr b="1" sz="1300">
              <a:solidFill>
                <a:srgbClr val="58595B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Drops into a safe, heavily damped recovery ‘funnel’ in case of line break preventing the robotic arm from violently whipping backward and breaking motors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funnel synthesis concept also useful for control regain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Admittance Control hardware implementation (gain scheduling)</a:t>
            </a:r>
            <a:endParaRPr sz="13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79" name="Google Shape;379;p45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45"/>
          <p:cNvSpPr txBox="1"/>
          <p:nvPr>
            <p:ph type="title"/>
          </p:nvPr>
        </p:nvSpPr>
        <p:spPr>
          <a:xfrm>
            <a:off x="640075" y="640077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Algorithmic extensions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"/>
          <p:cNvSpPr txBox="1"/>
          <p:nvPr>
            <p:ph idx="1" type="body"/>
          </p:nvPr>
        </p:nvSpPr>
        <p:spPr>
          <a:xfrm>
            <a:off x="640075" y="1342275"/>
            <a:ext cx="8238900" cy="20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Noise reduction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Probabilistic state estimation (HMM, Bayesian filter)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[important in RL, partial observability/limited info scenarios]</a:t>
            </a:r>
            <a:endParaRPr sz="1300"/>
          </a:p>
          <a:p>
            <a:pPr indent="-31115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Frequency and derivative of the force to distinguish between fake disturbances (boat rocking, snag on seaweed) or an actual fish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OR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Just use vision (unless there are partial observability concerns)</a:t>
            </a:r>
            <a:endParaRPr sz="1300"/>
          </a:p>
        </p:txBody>
      </p:sp>
      <p:sp>
        <p:nvSpPr>
          <p:cNvPr id="387" name="Google Shape;387;p46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46"/>
          <p:cNvSpPr txBox="1"/>
          <p:nvPr>
            <p:ph type="title"/>
          </p:nvPr>
        </p:nvSpPr>
        <p:spPr>
          <a:xfrm>
            <a:off x="640075" y="640077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Algorithmic extensions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>
            <p:ph idx="2" type="body"/>
          </p:nvPr>
        </p:nvSpPr>
        <p:spPr>
          <a:xfrm>
            <a:off x="1097280" y="1463040"/>
            <a:ext cx="6858000" cy="22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Adaptive neural network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/>
              <a:t>Augmentation of control loop with an adaptive neural network feedforward term that learns the stochastic frequency of the fish's pulling behavior, effectively predicting the required q_d before the tension error grows too large. </a:t>
            </a:r>
            <a:endParaRPr b="0" sz="13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300"/>
              <a:t>Sim-to-real: </a:t>
            </a:r>
            <a:r>
              <a:rPr b="0" lang="en-US" sz="1300"/>
              <a:t>Using the simulation as an AI training tool to optimize fish tensioning behavior.</a:t>
            </a:r>
            <a:endParaRPr b="0" sz="1300"/>
          </a:p>
          <a:p>
            <a:pPr indent="-311150" lvl="0" marL="457200" rtl="0" algn="l">
              <a:spcBef>
                <a:spcPts val="75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b="0" lang="en-US" sz="1300"/>
              <a:t>Direct RL: neural network</a:t>
            </a:r>
            <a:endParaRPr b="0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b="0" lang="en-US" sz="1300"/>
              <a:t>Layered RL: controller parameter tweaking</a:t>
            </a:r>
            <a:endParaRPr b="0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b="0" lang="en-US" sz="1300"/>
              <a:t>sim pipeline can also be used for adaptive control tuning without AI</a:t>
            </a:r>
            <a:endParaRPr b="0" sz="13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95" name="Google Shape;395;p47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p47"/>
          <p:cNvSpPr txBox="1"/>
          <p:nvPr>
            <p:ph type="title"/>
          </p:nvPr>
        </p:nvSpPr>
        <p:spPr>
          <a:xfrm>
            <a:off x="640079" y="640080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Algorithmic extensions (AI)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48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Developments</a:t>
            </a:r>
            <a:endParaRPr/>
          </a:p>
        </p:txBody>
      </p:sp>
      <p:sp>
        <p:nvSpPr>
          <p:cNvPr id="404" name="Google Shape;404;p48"/>
          <p:cNvSpPr/>
          <p:nvPr>
            <p:ph idx="10" type="dt"/>
          </p:nvPr>
        </p:nvSpPr>
        <p:spPr>
          <a:xfrm>
            <a:off x="4297680" y="4754880"/>
            <a:ext cx="20574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8"/>
          <p:cNvSpPr txBox="1"/>
          <p:nvPr>
            <p:ph idx="1" type="body"/>
          </p:nvPr>
        </p:nvSpPr>
        <p:spPr>
          <a:xfrm>
            <a:off x="868675" y="1333975"/>
            <a:ext cx="7315200" cy="30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Redundantly actuated serial joint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E</a:t>
            </a:r>
            <a:r>
              <a:rPr lang="en-US" sz="1300">
                <a:solidFill>
                  <a:schemeClr val="dk1"/>
                </a:solidFill>
              </a:rPr>
              <a:t>mulate rod compliance with active control capability?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Macro-micro manipulator structure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-US" sz="1300">
                <a:solidFill>
                  <a:schemeClr val="dk1"/>
                </a:solidFill>
              </a:rPr>
              <a:t>heavy base joint</a:t>
            </a:r>
            <a:r>
              <a:rPr lang="en-US" sz="1300">
                <a:solidFill>
                  <a:schemeClr val="dk1"/>
                </a:solidFill>
              </a:rPr>
              <a:t> handle low-frequency, high-amplitude positioning (like tracking boat's movement)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A </a:t>
            </a:r>
            <a:r>
              <a:rPr b="1" lang="en-US" sz="1300">
                <a:solidFill>
                  <a:schemeClr val="dk1"/>
                </a:solidFill>
              </a:rPr>
              <a:t>smaller, redundantly actuated serial joint </a:t>
            </a:r>
            <a:r>
              <a:rPr lang="en-US" sz="1300">
                <a:solidFill>
                  <a:schemeClr val="dk1"/>
                </a:solidFill>
              </a:rPr>
              <a:t>near the tip can be tuned with a much higher control loop frequency </a:t>
            </a:r>
            <a:r>
              <a:rPr lang="en-US" sz="1300">
                <a:solidFill>
                  <a:schemeClr val="dk1"/>
                </a:solidFill>
              </a:rPr>
              <a:t>to handle high-frequency stochastic disturbances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-US" sz="1300">
                <a:solidFill>
                  <a:schemeClr val="dk1"/>
                </a:solidFill>
              </a:rPr>
              <a:t>inertial decoupling: </a:t>
            </a:r>
            <a:r>
              <a:rPr lang="en-US" sz="1300">
                <a:solidFill>
                  <a:schemeClr val="dk1"/>
                </a:solidFill>
              </a:rPr>
              <a:t>torque efficiency, jerky movements doesn’t cause heavy base motor to respond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Null space optimization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infinite joint configs.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initiate secondary optimization objectives (torque minimization)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Dynamic impedance shaping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redundant motor acts as dynamically tunable physical stiffness unit that adheres to control needs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49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Developments</a:t>
            </a:r>
            <a:endParaRPr/>
          </a:p>
        </p:txBody>
      </p:sp>
      <p:sp>
        <p:nvSpPr>
          <p:cNvPr id="413" name="Google Shape;413;p49"/>
          <p:cNvSpPr/>
          <p:nvPr>
            <p:ph idx="10" type="dt"/>
          </p:nvPr>
        </p:nvSpPr>
        <p:spPr>
          <a:xfrm>
            <a:off x="4297680" y="4754880"/>
            <a:ext cx="20574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9"/>
          <p:cNvSpPr txBox="1"/>
          <p:nvPr>
            <p:ph idx="1" type="body"/>
          </p:nvPr>
        </p:nvSpPr>
        <p:spPr>
          <a:xfrm>
            <a:off x="668425" y="1376725"/>
            <a:ext cx="7715700" cy="8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A compliant segment</a:t>
            </a:r>
            <a:r>
              <a:rPr lang="en-US" sz="1300">
                <a:solidFill>
                  <a:schemeClr val="dk1"/>
                </a:solidFill>
              </a:rPr>
              <a:t> added to the end of the rod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tune stiffness characteristics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mechanical LPF</a:t>
            </a:r>
            <a:r>
              <a:rPr lang="en-US" sz="1300">
                <a:solidFill>
                  <a:schemeClr val="dk1"/>
                </a:solidFill>
              </a:rPr>
              <a:t>, dealing with incredibly jerky fish motion in true fishing scenarios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bumpless transfer stabilization</a:t>
            </a:r>
            <a:r>
              <a:rPr lang="en-US" sz="1300">
                <a:solidFill>
                  <a:schemeClr val="dk1"/>
                </a:solidFill>
              </a:rPr>
              <a:t> (state transitions), reduce risky torque spikes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0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50"/>
          <p:cNvSpPr txBox="1"/>
          <p:nvPr>
            <p:ph type="title"/>
          </p:nvPr>
        </p:nvSpPr>
        <p:spPr>
          <a:xfrm>
            <a:off x="640079" y="640080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testing rig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0"/>
          <p:cNvSpPr/>
          <p:nvPr>
            <p:ph idx="10" type="dt"/>
          </p:nvPr>
        </p:nvSpPr>
        <p:spPr>
          <a:xfrm>
            <a:off x="4297680" y="4754880"/>
            <a:ext cx="20574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0"/>
          <p:cNvSpPr txBox="1"/>
          <p:nvPr>
            <p:ph idx="1" type="body"/>
          </p:nvPr>
        </p:nvSpPr>
        <p:spPr>
          <a:xfrm>
            <a:off x="714150" y="1362450"/>
            <a:ext cx="7715700" cy="13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</a:rPr>
              <a:t>Actuatable object to mimic a fish that has planarized movement </a:t>
            </a:r>
            <a:r>
              <a:rPr lang="en-US">
                <a:solidFill>
                  <a:schemeClr val="dk1"/>
                </a:solidFill>
              </a:rPr>
              <a:t>capabilities to perform varied experiments on our hardware system and its accompanying controller design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1"/>
          <p:cNvSpPr txBox="1"/>
          <p:nvPr>
            <p:ph idx="1" type="body"/>
          </p:nvPr>
        </p:nvSpPr>
        <p:spPr>
          <a:xfrm>
            <a:off x="640074" y="1421925"/>
            <a:ext cx="77724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Bringing the product to ‘market’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Tensioning reel mechanism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actuated hooking system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0" name="Google Shape;430;p51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51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Practical Additions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2"/>
          <p:cNvSpPr txBox="1"/>
          <p:nvPr>
            <p:ph idx="10" type="dt"/>
          </p:nvPr>
        </p:nvSpPr>
        <p:spPr>
          <a:xfrm>
            <a:off x="4297680" y="4754880"/>
            <a:ext cx="2117634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August 9, 2024</a:t>
            </a:r>
            <a:endParaRPr/>
          </a:p>
        </p:txBody>
      </p:sp>
      <p:sp>
        <p:nvSpPr>
          <p:cNvPr id="437" name="Google Shape;437;p52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3"/>
          <p:cNvSpPr txBox="1"/>
          <p:nvPr>
            <p:ph idx="1" type="body"/>
          </p:nvPr>
        </p:nvSpPr>
        <p:spPr>
          <a:xfrm>
            <a:off x="1097280" y="1828801"/>
            <a:ext cx="6858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https://www.researchgate.net/publication/344142164_Haptic_Display_Using_Fishing_Rod</a:t>
            </a:r>
            <a:r>
              <a:rPr lang="en-US"/>
              <a:t> </a:t>
            </a:r>
            <a:endParaRPr/>
          </a:p>
        </p:txBody>
      </p:sp>
      <p:sp>
        <p:nvSpPr>
          <p:cNvPr id="444" name="Google Shape;444;p53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53"/>
          <p:cNvSpPr txBox="1"/>
          <p:nvPr>
            <p:ph type="title"/>
          </p:nvPr>
        </p:nvSpPr>
        <p:spPr>
          <a:xfrm>
            <a:off x="640079" y="640080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-01-dark">
  <a:themeElements>
    <a:clrScheme name="Brand-01-Colors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-02">
  <a:themeElements>
    <a:clrScheme name="brand-presentation2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esentation-01-dark">
  <a:themeElements>
    <a:clrScheme name="Brand-01-Colors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